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d81c327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d81c327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d81c327a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d81c327a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d81c327a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09d81c327a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09d81c327a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09d81c327a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09d81c327a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09d81c327a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9daf4789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09daf4789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09daf4789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409daf4789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09daf4789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09daf4789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9daf4789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09daf4789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09daf4789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09daf4789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09daf4789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09daf478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9daf4789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09daf4789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09daf4789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09daf4789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09daf4789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09daf4789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09daf4789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09daf4789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09daf4789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09daf4789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09daf4789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09daf4789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09daf4789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09daf4789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09daf4789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09daf4789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09daf4789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409daf4789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09dba18ab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409dba18ab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09dba18ab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09dba18ab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09dba18ab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09dba18a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b5db0c6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b5db0c6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b5db0c6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b5db0c6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0"/>
            <a:ext cx="9144000" cy="3349200"/>
          </a:xfrm>
          <a:prstGeom prst="rect">
            <a:avLst/>
          </a:prstGeom>
          <a:solidFill>
            <a:srgbClr val="073763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00" u="sng">
                <a:solidFill>
                  <a:srgbClr val="F0EFEC"/>
                </a:solidFill>
                <a:latin typeface="Arial"/>
                <a:ea typeface="Arial"/>
                <a:cs typeface="Arial"/>
                <a:sym typeface="Arial"/>
              </a:rPr>
              <a:t>The Smart Leftover Food Recipe Generator</a:t>
            </a:r>
            <a:r>
              <a:rPr b="1" i="1" lang="en" sz="3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1" sz="3200" u="sng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3675750"/>
            <a:ext cx="91440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Cook Smart with What You Already Have </a:t>
            </a:r>
            <a:endParaRPr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9144000" cy="13371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r>
              <a:rPr b="1" lang="en"/>
              <a:t> 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0" y="1337100"/>
            <a:ext cx="9144000" cy="38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 most households, food often goes to waste because people are unaware of how to creatively use leftover or partially used ingredients. 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Existing recipe applications typically require users to search for a specific dish and then procure the necessary ingredients, which does not help when the goal is to utilize what is already available at home. 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There is a lack of simple, accessible tools that can take stock of existing ingredients and instantly recommend practical recipes, leading to unnecessary food wastage and repeated grocery expenses.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0" y="0"/>
            <a:ext cx="9144000" cy="13581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Outcome</a:t>
            </a:r>
            <a:r>
              <a:rPr lang="en"/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0" y="1358100"/>
            <a:ext cx="9144000" cy="3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fully functional Flutter-based mobile application that accepts user-input ingredients and generates matching recipes.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ranked list of recipes based on ingredient availability, showing the best matches first.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Detailed recipe view with cooking instructions, preparation time, and ingredient list.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practical tool that demonstrably reduces the decision-making effort involved in "what to cook with what I have".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working prototype suitable for demonstration, further development, or deployment.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0" y="0"/>
            <a:ext cx="9144000" cy="13167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r>
              <a:rPr lang="en"/>
              <a:t>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0" y="1316700"/>
            <a:ext cx="9144000" cy="3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To reduce household food wastage by making effective use of existing/leftover ingredients.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To help users quickly decide what to cook without needing to buy additional ingredients.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To design a simple, user-friendly mobile interface for entering ingredients and browsing recipe suggestions.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To implement an efficient ingredient-to-recipe matching mechanism.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To promote sustainable, mindful, and economical cooking habits among users.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0" y="0"/>
            <a:ext cx="9144000" cy="13332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Scope of the Project</a:t>
            </a:r>
            <a:r>
              <a:rPr lang="en"/>
              <a:t> 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0" y="1333200"/>
            <a:ext cx="9144000" cy="38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application is designed for individuals, students, and households looking for quick and practical meal ideas using ingredients they already possess. 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Within its scope, the app allows users to:</a:t>
            </a:r>
            <a:endParaRPr b="1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Enter or select available ingredients through the app interface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Receive a list of recipes ranked according to ingredient match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View complete recipe details, including preparation steps and cooking time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Optionally filter results based on dietary preferences (vegetarian, vegan, etc.)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project can further be extended to include features like photo-based ingredient recognition, expiry-date tracking, and nutritional analysis, making it scalable for future enhancement.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0" y="0"/>
            <a:ext cx="9144000" cy="13548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 Advantages</a:t>
            </a:r>
            <a:r>
              <a:rPr b="1" lang="en">
                <a:solidFill>
                  <a:schemeClr val="lt1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0" y="1354800"/>
            <a:ext cx="9144000" cy="3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Helps reduce food wastage at the household level.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Saves users time and mental effort in daily meal planning.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Encourages creative and resourceful cooking using existing stock.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Reduces unnecessary grocery expenses.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 contribute to healthier eating habits by suggesting balanced recipe options.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Simple and intuitive interface suitable for all age groups.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0" y="0"/>
            <a:ext cx="9144000" cy="1366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r>
              <a:rPr b="1" lang="en">
                <a:solidFill>
                  <a:schemeClr val="lt1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0" y="1366500"/>
            <a:ext cx="9144000" cy="3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Daily meal planning for individuals and families.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Particularly useful for students and hostel residents with limited ingredients and cooking resources.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 be adapted for use in restaurants, canteens, or catering services to minimize kitchen-level food waste.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Supports sustainability and eco-conscious lifestyle initiatives.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 be integrated into smart kitchen or smart home ecosystems in the future.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0" y="0"/>
            <a:ext cx="9144000" cy="1408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r>
              <a:rPr lang="en"/>
              <a:t> 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0" y="1408500"/>
            <a:ext cx="9144000" cy="3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Smart Leftover Food Recipe Generator effectively addresses a common yet often overlooked problem — food wastage resulting from a lack of recipe ideas for leftover ingredients. 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By reversing the conventional recipe-search process and focusing on ingredients already available, the application promotes sustainability, reduces unnecessary expenditure, and simplifies everyday cooking decisions. 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Built using Flutter for cross-platform compatibility, the project demonstrates how thoughtful application design can contribute to solving real-world problems, while also leaving room for future enhancements such as image-based ingredient detection and expiry tracking. 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0" y="25"/>
            <a:ext cx="6830100" cy="13332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AutoNum type="arabicPeriod"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Home Page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0" y="1333225"/>
            <a:ext cx="6830100" cy="38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Main entry page of the application.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endParaRPr b="1" sz="16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828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57"/>
              <a:buFont typeface="Arial"/>
              <a:buChar char="●"/>
            </a:pP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Leftover Lab logo and branding.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828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57"/>
              <a:buFont typeface="Arial"/>
              <a:buChar char="●"/>
            </a:pP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Bookmark icon → opens saved recipes.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828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57"/>
              <a:buFont typeface="Arial"/>
              <a:buChar char="●"/>
            </a:pP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Profile icon → opens account/sign-in page.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8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7"/>
              <a:buFont typeface="Arial"/>
              <a:buChar char="●"/>
            </a:pP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Main heading:</a:t>
            </a:r>
            <a:r>
              <a:rPr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"Make dinner from what is left."</a:t>
            </a:r>
            <a:endParaRPr b="1" sz="16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828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57"/>
              <a:buFont typeface="Arial"/>
              <a:buChar char="●"/>
            </a:pP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Explains that users can select ingredients they already have.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8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7"/>
              <a:buFont typeface="Arial"/>
              <a:buChar char="●"/>
            </a:pPr>
            <a:r>
              <a:rPr b="1"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 In</a:t>
            </a:r>
            <a:r>
              <a:rPr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button for existing users.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8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7"/>
              <a:buFont typeface="Arial"/>
              <a:buChar char="●"/>
            </a:pPr>
            <a:r>
              <a:rPr b="1"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Account</a:t>
            </a:r>
            <a:r>
              <a:rPr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button for new users.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828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57"/>
              <a:buFont typeface="Arial"/>
              <a:buChar char="●"/>
            </a:pP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Beginning of ingredient selection section.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6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57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Introduce the app and allow users to start using it.</a:t>
            </a:r>
            <a:endParaRPr sz="1657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100" y="1"/>
            <a:ext cx="2313900" cy="514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0" y="0"/>
            <a:ext cx="6717600" cy="13500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 User Create Account </a:t>
            </a:r>
            <a:r>
              <a:rPr lang="en"/>
              <a:t> 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0" y="1350000"/>
            <a:ext cx="6717600" cy="37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Register a new user.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Fields:</a:t>
            </a:r>
            <a:endParaRPr b="1" sz="13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643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355"/>
              <a:buFont typeface="Arial"/>
              <a:buChar char="●"/>
            </a:pP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Email Address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64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5"/>
              <a:buFont typeface="Arial"/>
              <a:buChar char="●"/>
            </a:pP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64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5"/>
              <a:buFont typeface="Arial"/>
              <a:buChar char="●"/>
            </a:pP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Confirm Password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Buttons:</a:t>
            </a:r>
            <a:endParaRPr b="1" sz="13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643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355"/>
              <a:buFont typeface="Arial"/>
              <a:buChar char="●"/>
            </a:pP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Create Account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64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5"/>
              <a:buFont typeface="Arial"/>
              <a:buChar char="●"/>
            </a:pP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Continue with Google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Validation:</a:t>
            </a:r>
            <a:endParaRPr b="1" sz="13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643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355"/>
              <a:buFont typeface="Arial"/>
              <a:buChar char="●"/>
            </a:pP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Password must contain at least 8 characters.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64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5"/>
              <a:buFont typeface="Arial"/>
              <a:buChar char="●"/>
            </a:pP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Confirm password must match password.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5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Create a personal account to sync saved recipes.</a:t>
            </a:r>
            <a:endParaRPr sz="135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500" y="0"/>
            <a:ext cx="2426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0" y="0"/>
            <a:ext cx="6893100" cy="13581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	User Sign In Page</a:t>
            </a:r>
            <a:r>
              <a:rPr lang="en"/>
              <a:t> </a:t>
            </a:r>
            <a:r>
              <a:rPr lang="en"/>
              <a:t> 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0" y="1358100"/>
            <a:ext cx="6893100" cy="3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21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16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Login for existing users.</a:t>
            </a:r>
            <a:endParaRPr sz="216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Fields:</a:t>
            </a:r>
            <a:endParaRPr b="1" sz="216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518" lvl="0" marL="457200" rtl="0" algn="just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lang="en" sz="216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Email Address</a:t>
            </a:r>
            <a:endParaRPr sz="216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518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lang="en" sz="216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  <a:endParaRPr sz="216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Buttons:</a:t>
            </a:r>
            <a:endParaRPr b="1" sz="216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518" lvl="0" marL="457200" rtl="0" algn="just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lang="en" sz="216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Sign In</a:t>
            </a:r>
            <a:endParaRPr sz="216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518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lang="en" sz="216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Continue with Google</a:t>
            </a:r>
            <a:endParaRPr sz="216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 Options:</a:t>
            </a:r>
            <a:endParaRPr b="1" sz="216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518" lvl="0" marL="457200" rtl="0" algn="just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lang="en" sz="216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Create Account</a:t>
            </a:r>
            <a:endParaRPr sz="216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518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/>
              <a:buChar char="●"/>
            </a:pPr>
            <a:r>
              <a:rPr lang="en" sz="216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Explore as Guest</a:t>
            </a:r>
            <a:endParaRPr sz="216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21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165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Access saved recipes and personalized data.</a:t>
            </a:r>
            <a:endParaRPr sz="2165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3100" y="0"/>
            <a:ext cx="22509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0" y="0"/>
            <a:ext cx="6830100" cy="13248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	User Lo</a:t>
            </a: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gged-in Home Page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0" y="1324800"/>
            <a:ext cx="6830100" cy="3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Main dashboard after login.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Changes from landing page: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User icon indicates logged-in state.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Ingredient section becomes fully usable.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Ingredient categories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496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All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496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Staples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496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Protein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496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Produce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Ingredient selection area.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Start selecting available ingredients.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097" y="0"/>
            <a:ext cx="23139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0" y="0"/>
            <a:ext cx="6943200" cy="14001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	Ingredient Selection Page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0" y="1400100"/>
            <a:ext cx="6943200" cy="3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4000">
                <a:latin typeface="Arial"/>
                <a:ea typeface="Arial"/>
                <a:cs typeface="Arial"/>
                <a:sym typeface="Arial"/>
              </a:rPr>
              <a:t>Choose ingredients available in the kitchen.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Ingredients:</a:t>
            </a:r>
            <a:endParaRPr b="1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Rice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Pasta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Eggs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Chicken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Chickpeas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Spinach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Tomatoes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Carrots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Onion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Cheese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Yogurt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Bread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Functions:</a:t>
            </a:r>
            <a:endParaRPr b="1"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Select individual ingredients.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Select All option.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Categorized filtering.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4000">
                <a:latin typeface="Arial"/>
                <a:ea typeface="Arial"/>
                <a:cs typeface="Arial"/>
                <a:sym typeface="Arial"/>
              </a:rPr>
              <a:t>Collect ingredient data for recipe generation.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3200" y="0"/>
            <a:ext cx="22008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0" y="0"/>
            <a:ext cx="6901500" cy="1408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6. 	Recipe Preference Section</a:t>
            </a:r>
            <a:r>
              <a:rPr lang="en"/>
              <a:t> 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0" y="1408500"/>
            <a:ext cx="6901500" cy="3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Customize generated recipes.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Add another ingredient manually.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Diet filter (Any Diet).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Number of servings (2 servings).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Cooking time filter (Under 30 min).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Generate My Recipe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Informational Card: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Explains that AI can create meals from available ingredients.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Fine-tune recipe recommendations.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500" y="0"/>
            <a:ext cx="22425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0" y="0"/>
            <a:ext cx="6826200" cy="13749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 	Custom Ingredient Added</a:t>
            </a:r>
            <a:r>
              <a:rPr lang="en"/>
              <a:t> 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0" y="1374900"/>
            <a:ext cx="6826200" cy="3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User adds a custom ingredient or dish request.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"I Want To Make A Punjabi Dosa"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Behavior: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Custom request becomes part of recipe generation.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Generate button becomes active.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Allow personalized recipe requests beyond predefined ingredients.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200" y="0"/>
            <a:ext cx="22832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0" y="0"/>
            <a:ext cx="6830100" cy="1366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8. 	Generated Recipe Summary</a:t>
            </a:r>
            <a:r>
              <a:rPr lang="en"/>
              <a:t> 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0" y="1366500"/>
            <a:ext cx="6830100" cy="3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Display AI-generated recipe preview.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Recipe: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Golden Garden Skillet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Shown: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Smart Recipe badge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Estimated cooking time (13 min)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Short recipe description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Generated from selected ingredients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Present the best recipe suggestion.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097" y="0"/>
            <a:ext cx="23139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0" y="0"/>
            <a:ext cx="6830100" cy="13500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9. 	Recipe Detail Page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0" y="1350000"/>
            <a:ext cx="6830100" cy="37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99">
                <a:latin typeface="Arial"/>
                <a:ea typeface="Arial"/>
                <a:cs typeface="Arial"/>
                <a:sym typeface="Arial"/>
              </a:rPr>
              <a:t>Show complete recipe instructions.</a:t>
            </a:r>
            <a:endParaRPr sz="179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Sections:</a:t>
            </a:r>
            <a:endParaRPr b="1" sz="1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24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799">
                <a:latin typeface="Arial"/>
                <a:ea typeface="Arial"/>
                <a:cs typeface="Arial"/>
                <a:sym typeface="Arial"/>
              </a:rPr>
              <a:t>Recipe title</a:t>
            </a:r>
            <a:endParaRPr sz="1799">
              <a:latin typeface="Arial"/>
              <a:ea typeface="Arial"/>
              <a:cs typeface="Arial"/>
              <a:sym typeface="Arial"/>
            </a:endParaRPr>
          </a:p>
          <a:p>
            <a:pPr indent="-334244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799">
                <a:latin typeface="Arial"/>
                <a:ea typeface="Arial"/>
                <a:cs typeface="Arial"/>
                <a:sym typeface="Arial"/>
              </a:rPr>
              <a:t>Cooking time</a:t>
            </a:r>
            <a:endParaRPr sz="1799">
              <a:latin typeface="Arial"/>
              <a:ea typeface="Arial"/>
              <a:cs typeface="Arial"/>
              <a:sym typeface="Arial"/>
            </a:endParaRPr>
          </a:p>
          <a:p>
            <a:pPr indent="-334244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799">
                <a:latin typeface="Arial"/>
                <a:ea typeface="Arial"/>
                <a:cs typeface="Arial"/>
                <a:sym typeface="Arial"/>
              </a:rPr>
              <a:t>Food waste score</a:t>
            </a:r>
            <a:endParaRPr sz="1799">
              <a:latin typeface="Arial"/>
              <a:ea typeface="Arial"/>
              <a:cs typeface="Arial"/>
              <a:sym typeface="Arial"/>
            </a:endParaRPr>
          </a:p>
          <a:p>
            <a:pPr indent="-334244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799">
                <a:latin typeface="Arial"/>
                <a:ea typeface="Arial"/>
                <a:cs typeface="Arial"/>
                <a:sym typeface="Arial"/>
              </a:rPr>
              <a:t>Step-by-step cooking method</a:t>
            </a:r>
            <a:endParaRPr sz="179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endParaRPr b="1" sz="1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24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799">
                <a:latin typeface="Arial"/>
                <a:ea typeface="Arial"/>
                <a:cs typeface="Arial"/>
                <a:sym typeface="Arial"/>
              </a:rPr>
              <a:t>Save Recipe</a:t>
            </a:r>
            <a:endParaRPr sz="1799">
              <a:latin typeface="Arial"/>
              <a:ea typeface="Arial"/>
              <a:cs typeface="Arial"/>
              <a:sym typeface="Arial"/>
            </a:endParaRPr>
          </a:p>
          <a:p>
            <a:pPr indent="-334244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1799">
                <a:latin typeface="Arial"/>
                <a:ea typeface="Arial"/>
                <a:cs typeface="Arial"/>
                <a:sym typeface="Arial"/>
              </a:rPr>
              <a:t>Copy Recipe</a:t>
            </a:r>
            <a:endParaRPr sz="179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99">
                <a:latin typeface="Arial"/>
                <a:ea typeface="Arial"/>
                <a:cs typeface="Arial"/>
                <a:sym typeface="Arial"/>
              </a:rPr>
              <a:t>Help users cook the generated meal.</a:t>
            </a:r>
            <a:endParaRPr sz="179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097" y="0"/>
            <a:ext cx="23139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0" y="0"/>
            <a:ext cx="6884700" cy="13737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10.   Saved Recipes Drawer</a:t>
            </a:r>
            <a:r>
              <a:rPr lang="en"/>
              <a:t> 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0" y="1373700"/>
            <a:ext cx="6884700" cy="3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Manage saved recipes.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List of saved recipes.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Recipe summary.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Delete individual recipe.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Clear All recipes.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Quick access to favorite recipes.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4700" y="0"/>
            <a:ext cx="22593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0" y="0"/>
            <a:ext cx="6875400" cy="13644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11.   Account Profile Page</a:t>
            </a:r>
            <a:r>
              <a:rPr lang="en"/>
              <a:t> 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0" y="1364400"/>
            <a:ext cx="6914400" cy="37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User account management.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Displayed: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Signed-in status.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 email address.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Cloud sync confirmation.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Sign Out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Manage account and recipe synchronization.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5447" y="0"/>
            <a:ext cx="23139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0" y="0"/>
            <a:ext cx="6830100" cy="1375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11.    </a:t>
            </a: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About Leftover Lab 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0" y="1375500"/>
            <a:ext cx="6830100" cy="3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Provides information about the Leftover Lab application and its mission.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Displayed: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Overview of how the app helps users create meals from leftover ingredients.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Benefits such as reducing food waste and simplifying meal planning.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Support and feedback contact email address.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Copy Email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Close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Inform users about the app and provide a way to contact the developers for support or feedback.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097" y="0"/>
            <a:ext cx="23139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0" y="0"/>
            <a:ext cx="6830100" cy="13581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12.   Admin Insights Page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0" y="1358100"/>
            <a:ext cx="6830100" cy="3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25">
                <a:latin typeface="Arial"/>
                <a:ea typeface="Arial"/>
                <a:cs typeface="Arial"/>
                <a:sym typeface="Arial"/>
              </a:rPr>
              <a:t>Admin dashboard for monitoring the overall recipe community.</a:t>
            </a:r>
            <a:endParaRPr sz="12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Displayed:</a:t>
            </a:r>
            <a:endParaRPr b="1"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Total number of registered users 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Total number of saved recipes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Number of new users this week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Number of recipes created/activity this week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Number of banned users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Seven-day recipe activity.</a:t>
            </a:r>
            <a:endParaRPr sz="1225"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Most saved recipes.</a:t>
            </a:r>
            <a:endParaRPr sz="12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endParaRPr b="1"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View overall user and recipe statistics.</a:t>
            </a:r>
            <a:endParaRPr sz="1225"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Monitor seven-day recipe activity.</a:t>
            </a:r>
            <a:endParaRPr sz="1225"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5"/>
              <a:buFont typeface="Arial"/>
              <a:buChar char="●"/>
            </a:pPr>
            <a:r>
              <a:rPr lang="en" sz="1225">
                <a:latin typeface="Arial"/>
                <a:ea typeface="Arial"/>
                <a:cs typeface="Arial"/>
                <a:sym typeface="Arial"/>
              </a:rPr>
              <a:t>Review the most saved recipes.</a:t>
            </a:r>
            <a:endParaRPr sz="12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2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25">
                <a:latin typeface="Arial"/>
                <a:ea typeface="Arial"/>
                <a:cs typeface="Arial"/>
                <a:sym typeface="Arial"/>
              </a:rPr>
              <a:t>Give the Admin a quick overview of the application's users, recipe activity, and community engagement.</a:t>
            </a:r>
            <a:endParaRPr sz="12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25"/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097" y="0"/>
            <a:ext cx="23139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0" y="0"/>
            <a:ext cx="6830100" cy="13248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13.  	User Management Page</a:t>
            </a:r>
            <a:r>
              <a:rPr lang="en"/>
              <a:t> 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0" y="1324800"/>
            <a:ext cx="6830100" cy="3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95">
                <a:latin typeface="Arial"/>
                <a:ea typeface="Arial"/>
                <a:cs typeface="Arial"/>
                <a:sym typeface="Arial"/>
              </a:rPr>
              <a:t>Manage registered users of the recipe application.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Displayed:</a:t>
            </a:r>
            <a:endParaRPr b="1" sz="139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95"/>
              <a:buFont typeface="Arial"/>
              <a:buChar char="●"/>
            </a:pPr>
            <a:r>
              <a:rPr lang="en" sz="1395">
                <a:latin typeface="Arial"/>
                <a:ea typeface="Arial"/>
                <a:cs typeface="Arial"/>
                <a:sym typeface="Arial"/>
              </a:rPr>
              <a:t>List of registered users.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95"/>
              <a:buFont typeface="Arial"/>
              <a:buChar char="●"/>
            </a:pPr>
            <a:r>
              <a:rPr lang="en" sz="1395">
                <a:latin typeface="Arial"/>
                <a:ea typeface="Arial"/>
                <a:cs typeface="Arial"/>
                <a:sym typeface="Arial"/>
              </a:rPr>
              <a:t>User email/name.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5"/>
              <a:buFont typeface="Arial"/>
              <a:buChar char="●"/>
            </a:pPr>
            <a:r>
              <a:rPr lang="en" sz="1395">
                <a:latin typeface="Arial"/>
                <a:ea typeface="Arial"/>
                <a:cs typeface="Arial"/>
                <a:sym typeface="Arial"/>
              </a:rPr>
              <a:t>User account status such as</a:t>
            </a:r>
            <a:r>
              <a:rPr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r>
              <a:rPr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9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95"/>
              <a:buFont typeface="Arial"/>
              <a:buChar char="●"/>
            </a:pPr>
            <a:r>
              <a:rPr lang="en" sz="1395">
                <a:latin typeface="Arial"/>
                <a:ea typeface="Arial"/>
                <a:cs typeface="Arial"/>
                <a:sym typeface="Arial"/>
              </a:rPr>
              <a:t>Number of saved recipes for each user.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95"/>
              <a:buFont typeface="Arial"/>
              <a:buChar char="●"/>
            </a:pPr>
            <a:r>
              <a:rPr lang="en" sz="1395">
                <a:latin typeface="Arial"/>
                <a:ea typeface="Arial"/>
                <a:cs typeface="Arial"/>
                <a:sym typeface="Arial"/>
              </a:rPr>
              <a:t>Banned-user information.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endParaRPr b="1" sz="139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95"/>
              <a:buFont typeface="Arial"/>
              <a:buChar char="●"/>
            </a:pPr>
            <a:r>
              <a:rPr lang="en" sz="1395">
                <a:latin typeface="Arial"/>
                <a:ea typeface="Arial"/>
                <a:cs typeface="Arial"/>
                <a:sym typeface="Arial"/>
              </a:rPr>
              <a:t>Search users by email.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95"/>
              <a:buFont typeface="Arial"/>
              <a:buChar char="●"/>
            </a:pPr>
            <a:r>
              <a:rPr lang="en" sz="1395">
                <a:latin typeface="Arial"/>
                <a:ea typeface="Arial"/>
                <a:cs typeface="Arial"/>
                <a:sym typeface="Arial"/>
              </a:rPr>
              <a:t>View individual user status.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-31718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95"/>
              <a:buFont typeface="Arial"/>
              <a:buChar char="●"/>
            </a:pPr>
            <a:r>
              <a:rPr lang="en" sz="1395">
                <a:latin typeface="Arial"/>
                <a:ea typeface="Arial"/>
                <a:cs typeface="Arial"/>
                <a:sym typeface="Arial"/>
              </a:rPr>
              <a:t>Ban users.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3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95">
                <a:latin typeface="Arial"/>
                <a:ea typeface="Arial"/>
                <a:cs typeface="Arial"/>
                <a:sym typeface="Arial"/>
              </a:rPr>
              <a:t>Allow the Admin to monitor and control user accounts and maintain a safe and properly managed community.</a:t>
            </a:r>
            <a:endParaRPr sz="13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765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100" y="0"/>
            <a:ext cx="2313900" cy="518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0" y="0"/>
            <a:ext cx="6830100" cy="1341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14.  Recipe Activity &amp; Saved Recipes Page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0" y="1341600"/>
            <a:ext cx="68301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75">
                <a:latin typeface="Arial"/>
                <a:ea typeface="Arial"/>
                <a:cs typeface="Arial"/>
                <a:sym typeface="Arial"/>
              </a:rPr>
              <a:t>Monitor recipe-related activity and identify popular recipes.</a:t>
            </a:r>
            <a:endParaRPr sz="13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Displayed:</a:t>
            </a:r>
            <a:endParaRPr b="1" sz="13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3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Arial"/>
              <a:buChar char="●"/>
            </a:pPr>
            <a:r>
              <a:rPr lang="en" sz="1375">
                <a:latin typeface="Arial"/>
                <a:ea typeface="Arial"/>
                <a:cs typeface="Arial"/>
                <a:sym typeface="Arial"/>
              </a:rPr>
              <a:t>Seven-day recipe activity.</a:t>
            </a:r>
            <a:endParaRPr sz="1375">
              <a:latin typeface="Arial"/>
              <a:ea typeface="Arial"/>
              <a:cs typeface="Arial"/>
              <a:sym typeface="Arial"/>
            </a:endParaRPr>
          </a:p>
          <a:p>
            <a:pPr indent="-31591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Char char="●"/>
            </a:pPr>
            <a:r>
              <a:rPr lang="en" sz="1375">
                <a:latin typeface="Arial"/>
                <a:ea typeface="Arial"/>
                <a:cs typeface="Arial"/>
                <a:sym typeface="Arial"/>
              </a:rPr>
              <a:t>Daily recipe activity from </a:t>
            </a:r>
            <a:r>
              <a:rPr b="1"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9/8 to 9/14</a:t>
            </a:r>
            <a:r>
              <a:rPr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Arial"/>
              <a:buChar char="●"/>
            </a:pPr>
            <a:r>
              <a:rPr lang="en" sz="1375">
                <a:latin typeface="Arial"/>
                <a:ea typeface="Arial"/>
                <a:cs typeface="Arial"/>
                <a:sym typeface="Arial"/>
              </a:rPr>
              <a:t>Number of recipe activities for each day.</a:t>
            </a:r>
            <a:endParaRPr sz="1375">
              <a:latin typeface="Arial"/>
              <a:ea typeface="Arial"/>
              <a:cs typeface="Arial"/>
              <a:sym typeface="Arial"/>
            </a:endParaRPr>
          </a:p>
          <a:p>
            <a:pPr indent="-31591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Arial"/>
              <a:buChar char="●"/>
            </a:pPr>
            <a:r>
              <a:rPr lang="en" sz="1375">
                <a:latin typeface="Arial"/>
                <a:ea typeface="Arial"/>
                <a:cs typeface="Arial"/>
                <a:sym typeface="Arial"/>
              </a:rPr>
              <a:t>Most saved recipes.</a:t>
            </a:r>
            <a:endParaRPr sz="1375">
              <a:latin typeface="Arial"/>
              <a:ea typeface="Arial"/>
              <a:cs typeface="Arial"/>
              <a:sym typeface="Arial"/>
            </a:endParaRPr>
          </a:p>
          <a:p>
            <a:pPr indent="-31591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Char char="●"/>
            </a:pPr>
            <a:r>
              <a:rPr lang="en" sz="1375">
                <a:latin typeface="Arial"/>
                <a:ea typeface="Arial"/>
                <a:cs typeface="Arial"/>
                <a:sym typeface="Arial"/>
              </a:rPr>
              <a:t>Current message:</a:t>
            </a:r>
            <a:r>
              <a:rPr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“No saved recipes yet.”</a:t>
            </a:r>
            <a:endParaRPr b="1" sz="13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endParaRPr b="1" sz="13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3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Arial"/>
              <a:buChar char="●"/>
            </a:pPr>
            <a:r>
              <a:rPr lang="en" sz="1375">
                <a:latin typeface="Arial"/>
                <a:ea typeface="Arial"/>
                <a:cs typeface="Arial"/>
                <a:sym typeface="Arial"/>
              </a:rPr>
              <a:t>Monitor daily recipe activity.</a:t>
            </a:r>
            <a:endParaRPr sz="1375">
              <a:latin typeface="Arial"/>
              <a:ea typeface="Arial"/>
              <a:cs typeface="Arial"/>
              <a:sym typeface="Arial"/>
            </a:endParaRPr>
          </a:p>
          <a:p>
            <a:pPr indent="-31591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Arial"/>
              <a:buChar char="●"/>
            </a:pPr>
            <a:r>
              <a:rPr lang="en" sz="1375">
                <a:latin typeface="Arial"/>
                <a:ea typeface="Arial"/>
                <a:cs typeface="Arial"/>
                <a:sym typeface="Arial"/>
              </a:rPr>
              <a:t>Identify recipes that are saved most frequently.</a:t>
            </a:r>
            <a:endParaRPr sz="1375">
              <a:latin typeface="Arial"/>
              <a:ea typeface="Arial"/>
              <a:cs typeface="Arial"/>
              <a:sym typeface="Arial"/>
            </a:endParaRPr>
          </a:p>
          <a:p>
            <a:pPr indent="-31591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Arial"/>
              <a:buChar char="●"/>
            </a:pPr>
            <a:r>
              <a:rPr lang="en" sz="1375">
                <a:latin typeface="Arial"/>
                <a:ea typeface="Arial"/>
                <a:cs typeface="Arial"/>
                <a:sym typeface="Arial"/>
              </a:rPr>
              <a:t>Track recipe engagement over time.</a:t>
            </a:r>
            <a:endParaRPr sz="13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3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75">
                <a:latin typeface="Arial"/>
                <a:ea typeface="Arial"/>
                <a:cs typeface="Arial"/>
                <a:sym typeface="Arial"/>
              </a:rPr>
              <a:t>Help the Admin understand recipe usage, activity trends, and which recipes are most popular among users.</a:t>
            </a:r>
            <a:endParaRPr sz="13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  <p:pic>
        <p:nvPicPr>
          <p:cNvPr id="202" name="Google Shape;2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100" y="0"/>
            <a:ext cx="2313900" cy="5193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0" y="0"/>
            <a:ext cx="4572000" cy="13599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15.   Database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0" y="2571775"/>
            <a:ext cx="9179700" cy="25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en" sz="12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Displayed:</a:t>
            </a:r>
            <a:endParaRPr b="1" sz="12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●"/>
            </a:pPr>
            <a:r>
              <a:rPr b="1"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Collections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groups of related data, such as </a:t>
            </a:r>
            <a:r>
              <a:rPr lang="en" sz="10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1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●"/>
            </a:pPr>
            <a:r>
              <a:rPr b="1"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Documents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individual records inside a collection.</a:t>
            </a:r>
            <a:endParaRPr sz="1018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●"/>
            </a:pPr>
            <a:r>
              <a:rPr b="1"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Fields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details stored in each document, such as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createdAt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1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en" sz="12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endParaRPr b="1" sz="12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●"/>
            </a:pPr>
            <a:r>
              <a:rPr b="1"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collection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Create a new collection.</a:t>
            </a:r>
            <a:endParaRPr sz="1018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●"/>
            </a:pPr>
            <a:r>
              <a:rPr b="1"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document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Add a new record.</a:t>
            </a:r>
            <a:endParaRPr sz="1018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●"/>
            </a:pPr>
            <a:r>
              <a:rPr b="1"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field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Add information to an existing document.</a:t>
            </a:r>
            <a:endParaRPr sz="1018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●"/>
            </a:pPr>
            <a:r>
              <a:rPr b="1"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builder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Create queries to find/filter database data.</a:t>
            </a:r>
            <a:endParaRPr sz="1018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●"/>
            </a:pP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Select documents to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 their stored information</a:t>
            </a:r>
            <a:r>
              <a:rPr lang="en" sz="10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1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400"/>
              </a:spcAft>
              <a:buSzPts val="1018"/>
              <a:buNone/>
            </a:pPr>
            <a:r>
              <a:rPr b="1" lang="en" sz="12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lang="en" sz="1018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Store, organize, view, and manage application data efficiently using Firebase Cloud Firestore.</a:t>
            </a:r>
            <a:endParaRPr sz="1018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5"/>
            <a:ext cx="4572000" cy="2571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0" y="1359900"/>
            <a:ext cx="4572000" cy="12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Manage and monitor your application's </a:t>
            </a:r>
            <a:r>
              <a:rPr b="1"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r>
              <a:rPr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Store and organize application data in the cloud.</a:t>
            </a:r>
            <a:endParaRPr sz="13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